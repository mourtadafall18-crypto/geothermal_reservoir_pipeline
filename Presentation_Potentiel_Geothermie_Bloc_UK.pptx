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ÉVALUATION INTÉGRÉE DU POTENTIEL HYDROTHERMAL</a:t>
            </a:r>
          </a:p>
          <a:p>
            <a:pPr>
              <a:spcBef>
                <a:spcPts val="1500"/>
              </a:spcBef>
              <a:defRPr sz="1800">
                <a:solidFill>
                  <a:srgbClr val="2B6CB0"/>
                </a:solidFill>
              </a:defRPr>
            </a:pPr>
            <a:r>
              <a:t>Caractérisation du Bloc UK Central et Synthèse Réservoir pour le document Rapport_Technique_Reservoir_Geothermie_2.pdf</a:t>
            </a:r>
          </a:p>
          <a:p>
            <a:pPr>
              <a:spcBef>
                <a:spcPts val="4000"/>
              </a:spcBef>
              <a:defRPr sz="1300">
                <a:solidFill>
                  <a:srgbClr val="718096"/>
                </a:solidFill>
              </a:defRPr>
            </a:pPr>
            <a:r>
              <a:t>Direction des Réservoirs &amp; Géologie Numérique | 5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1. Contexte, Enjeux et 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8"/>
                </a:solidFill>
                <a:latin typeface="Arial"/>
              </a:defRPr>
            </a:pPr>
            <a:r>
              <a:t>• Stratégie de décarbonation : Ciblage des réseaux de chaleur urbains et des processus industriels au Royaume-Uni.</a:t>
            </a:r>
          </a:p>
          <a:p>
            <a:pPr>
              <a:spcAft>
                <a:spcPts val="1000"/>
              </a:spcAft>
              <a:defRPr sz="1700">
                <a:solidFill>
                  <a:srgbClr val="2D3748"/>
                </a:solidFill>
                <a:latin typeface="Arial"/>
              </a:defRPr>
            </a:pPr>
            <a:r>
              <a:t>• Complexité géologique : Superposition d'un prisme sédimentaire permo-triasique syn-to-post-rift sur un socle paléozoïque plissé varisque.</a:t>
            </a:r>
          </a:p>
          <a:p>
            <a:pPr>
              <a:spcAft>
                <a:spcPts val="1000"/>
              </a:spcAft>
              <a:defRPr sz="1700">
                <a:solidFill>
                  <a:srgbClr val="2D3748"/>
                </a:solidFill>
                <a:latin typeface="Arial"/>
              </a:defRPr>
            </a:pPr>
            <a:r>
              <a:t>• Objectif de la campagne : S'affranchir des approches empiriques classiques et lever les incertitudes de continuité structurale.</a:t>
            </a:r>
          </a:p>
          <a:p>
            <a:pPr>
              <a:spcAft>
                <a:spcPts val="1000"/>
              </a:spcAft>
              <a:defRPr sz="1700">
                <a:solidFill>
                  <a:srgbClr val="2D3748"/>
                </a:solidFill>
                <a:latin typeface="Arial"/>
              </a:defRPr>
            </a:pPr>
            <a:r>
              <a:t>• But final : Sécuriser le doublet hydrothermique à long terme (durée de vie nominale projetée de 30 ans).</a:t>
            </a:r>
          </a:p>
        </p:txBody>
      </p:sp>
      <p:pic>
        <p:nvPicPr>
          <p:cNvPr id="4" name="Picture 3" descr="Well_GT01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2. Moteur Analytique &amp; Data Pipeline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Automated Core Engine (v4.0.2) : Interconnexion directe et reproductible de l'ingénierie.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Base de données relationnelle : Extraction en temps réel depuis MySQL Workbench.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Ingestion de trois piliers fondamentaux de données de sous-sol :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Données Diagraphiques (Well Logs) : Profils continus GR, Rt, Rhob et NPHI.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Données Structurales : Épaisseurs brutes (Gross) et géométrie/rejet des accidents majeurs.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Données Dynamiques : Températures de fond stabilisées (BHT) et pressions initiales.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3. Prétraitement et Logique de Tri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Nettoyage des signaux : Correction des pannes de capteurs et des éboulements de parois par interpolation linéaire bornée.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Écrêtage automatique des aberrations physiques par le script (Porosité négative, Sw &gt; 100%).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Application stricte de filtres de coupure (Cut-offs) cumulatifs pour isoler le Net Pay :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Indice d'argilosité (Gamma Ray) : Vsh &lt; 30%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Porosité utile (Matrice / Fracture) : Phi &gt; 10%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 - Saturation en eau mobile (Milieu hydrothermal) : Sw &gt; 50%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Résultat : Élimination rigoureuse des intervalles étanches ou non productifs.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4. Analyse Comparative de l'Exploration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GT-01 (Bassin Est) : Réservoir matriciel de grès exceptionnel (Net Pay 594 m) mais froid (21.99°C). HIP exploitable nul.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GT-02 (Axe Central) : Réservoir de fracture restreint (Net Pay 150 m) mais hypertherme (53.74°C). Potentiel commercial majeur.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• GT-03 (Bordure Ouest) : Absence totale de réservoir utile (Net Pay 0 m). Pincement et colmatage diagénétique.</a:t>
            </a:r>
          </a:p>
        </p:txBody>
      </p:sp>
      <p:pic>
        <p:nvPicPr>
          <p:cNvPr id="4" name="Picture 3" descr="Synthese_Performances_P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91840"/>
            <a:ext cx="944849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5. Le Puits Producteur GT-02 : Zone de Faille Majeure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Cible structurale : Couloir de faille sous-vertical au sein des calcaires profonds du Carbonifère.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Épaisseur totale forée : 999 mètres. Net-to-Gross confiné de 15.02% (150 m utiles).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Comportement hydrodynamique : Rôle de drain vertical ascendant ramenant des fluides hydrothermaux profonds.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Température de production : 53.74°C.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Énergie disponible en place (USGS) : 5.28 PétaJoules (PJ) localisés dans le réseau de fractures.</a:t>
            </a:r>
          </a:p>
        </p:txBody>
      </p:sp>
      <p:pic>
        <p:nvPicPr>
          <p:cNvPr id="4" name="Picture 3" descr="Well_GT02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6. Modèle Géométrique et Compartimentage du Bassin</a:t>
            </a:r>
          </a:p>
        </p:txBody>
      </p:sp>
      <p:pic>
        <p:nvPicPr>
          <p:cNvPr id="3" name="Picture 2" descr="coupe_lithostratigraphique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7. Justification Physique et Mathématique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1. Modèle Volumétrique du Contenu Thermique (Méthode USGS) :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Q_HIP = A * h * [((1 - Phi) * Rhome * Cme) + (Phi * Rhof * Cf)] * (Tr - Tref)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- Certifie le volume de chaleur stockée en place sans spéculation empirique.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- Intègre la matrice rocheuse (2650 kg/m³, 850 J/kg/°C) et l'eau (4184 J/kg/°C). Température limite de rejet = 40°C.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2. Équation de Dimensionnement Hydraulique Exigé :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Q_production = P_thermal / [Rhof * Cf * (Tr - Tref)]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- Traduit la puissance de l'échangeur de surface en besoin de débit dynamique réel.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  <a:latin typeface="Arial"/>
              </a:defRPr>
            </a:pPr>
            <a:r>
              <a:t> - Application numérique validée pour GT-02 : Débit critique de 55.18 m³/h (15.33 L/s).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8. Plan d'Action d'Ingénierie de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Complétion du puits GT-02 : Recommandation d'une architecture Open-Hole ou Premium Slotted Liners pour préserver le réseau de fractures naturelles sans colmatage.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Spécifications de l'équipement de levage (ESP) : Pompe immergée calibrée pour un débit nominal de 50 à 65 m³/h, positionnée à ~350 m de profondeur.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Métallurgie stricte anti-corrosion : Utilisation d'aciers super-duplex ou alliage de Nickel (Inconel 625) en raison de la présence de CO2 dissous.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Reconversion de l'actif GT-01 : Reconversion en unité ATES (Stockage Thermique en Aquifère) pour capter et valoriser les excédents de chaleur industriels de surface en période estivale.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Arial"/>
              </a:defRPr>
            </a:pPr>
            <a:r>
              <a:t>9. Conclusion : Facteurs de Succès et Maîtrise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Risque de sous-sol drastiquement réduit : Validation déterministe via le pipeline de données réelles MySQL.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Ressource commerciale confirmée : 5.28 PJ d'énergie thermique en place identifiés sur le segment GT-02.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Viabilité dynamique démontrée : Débit cible de 55.18 m³/h en adéquation complète avec les propriétés de la faille.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Optimisation de l'investissement (CAPEX) : Double valeur d'usage du site (Production sur GT-02 et Stockage sur GT-01).</a:t>
            </a:r>
          </a:p>
          <a:p>
            <a:pPr>
              <a:spcAft>
                <a:spcPts val="1000"/>
              </a:spcAft>
              <a:defRPr sz="1600">
                <a:solidFill>
                  <a:srgbClr val="2D3748"/>
                </a:solidFill>
                <a:latin typeface="Arial"/>
              </a:defRPr>
            </a:pPr>
            <a:r>
              <a:t>• Cycle d'exploitation sécurisé : Horizon opérationnel de 30 ans sur le doublet hydrothermique.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